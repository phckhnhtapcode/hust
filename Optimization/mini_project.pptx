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Nourd" panose="020B0604020202020204" charset="0"/>
      <p:regular r:id="rId15"/>
    </p:embeddedFont>
    <p:embeddedFont>
      <p:font typeface="Nourd Bold" panose="020B0604020202020204" charset="0"/>
      <p:regular r:id="rId16"/>
    </p:embeddedFont>
    <p:embeddedFont>
      <p:font typeface="JetBrains Mono Bold" panose="02000009000000000000" pitchFamily="49" charset="0"/>
      <p:regular r:id="rId17"/>
      <p:bold r:id="rId18"/>
    </p:embeddedFont>
    <p:embeddedFont>
      <p:font typeface="Canva Sa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6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30/06/2026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99536" y="9580809"/>
            <a:ext cx="4457883" cy="545385"/>
          </a:xfrm>
          <a:prstGeom prst="rect">
            <a:avLst/>
          </a:prstGeom>
        </p:spPr>
        <p:txBody>
          <a:bodyPr lIns="0" tIns="0" rIns="0" bIns="0" rtlCol="0" anchor="t">
            <a:spAutoFit/>
          </a:bodyPr>
          <a:lstStyle/>
          <a:p>
            <a:pPr algn="ctr">
              <a:lnSpc>
                <a:spcPts val="4437"/>
              </a:lnSpc>
            </a:pPr>
            <a:r>
              <a:rPr lang="en-US" sz="3169">
                <a:solidFill>
                  <a:srgbClr val="0166C2"/>
                </a:solidFill>
                <a:latin typeface="Nourd"/>
                <a:ea typeface="Nourd"/>
                <a:cs typeface="Nourd"/>
                <a:sym typeface="Nourd"/>
              </a:rPr>
              <a:t>By PhcKhnhTapCode</a:t>
            </a:r>
          </a:p>
        </p:txBody>
      </p:sp>
      <p:sp>
        <p:nvSpPr>
          <p:cNvPr id="7" name="Freeform 7"/>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Freeform 8"/>
          <p:cNvSpPr/>
          <p:nvPr/>
        </p:nvSpPr>
        <p:spPr>
          <a:xfrm>
            <a:off x="604698" y="650011"/>
            <a:ext cx="2690952" cy="1345476"/>
          </a:xfrm>
          <a:custGeom>
            <a:avLst/>
            <a:gdLst/>
            <a:ahLst/>
            <a:cxnLst/>
            <a:rect l="l" t="t" r="r" b="b"/>
            <a:pathLst>
              <a:path w="2690952" h="1345476">
                <a:moveTo>
                  <a:pt x="0" y="0"/>
                </a:moveTo>
                <a:lnTo>
                  <a:pt x="2690952" y="0"/>
                </a:lnTo>
                <a:lnTo>
                  <a:pt x="2690952" y="1345477"/>
                </a:lnTo>
                <a:lnTo>
                  <a:pt x="0" y="1345477"/>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9" name="TextBox 9"/>
          <p:cNvSpPr txBox="1"/>
          <p:nvPr/>
        </p:nvSpPr>
        <p:spPr>
          <a:xfrm>
            <a:off x="2914790" y="2203957"/>
            <a:ext cx="12458420" cy="1708151"/>
          </a:xfrm>
          <a:prstGeom prst="rect">
            <a:avLst/>
          </a:prstGeom>
        </p:spPr>
        <p:txBody>
          <a:bodyPr lIns="0" tIns="0" rIns="0" bIns="0" rtlCol="0" anchor="t">
            <a:spAutoFit/>
          </a:bodyPr>
          <a:lstStyle/>
          <a:p>
            <a:pPr algn="ctr">
              <a:lnSpc>
                <a:spcPts val="13999"/>
              </a:lnSpc>
            </a:pPr>
            <a:r>
              <a:rPr lang="en-US" sz="9999" b="1">
                <a:solidFill>
                  <a:srgbClr val="0166C2"/>
                </a:solidFill>
                <a:latin typeface="JetBrains Mono Bold"/>
                <a:ea typeface="JetBrains Mono Bold"/>
                <a:cs typeface="JetBrains Mono Bold"/>
                <a:sym typeface="JetBrains Mono Bold"/>
              </a:rPr>
              <a:t>MINI-PROJECT</a:t>
            </a:r>
          </a:p>
        </p:txBody>
      </p:sp>
      <p:sp>
        <p:nvSpPr>
          <p:cNvPr id="10" name="TextBox 10"/>
          <p:cNvSpPr txBox="1"/>
          <p:nvPr/>
        </p:nvSpPr>
        <p:spPr>
          <a:xfrm>
            <a:off x="371475" y="4237465"/>
            <a:ext cx="17609721" cy="1749425"/>
          </a:xfrm>
          <a:prstGeom prst="rect">
            <a:avLst/>
          </a:prstGeom>
        </p:spPr>
        <p:txBody>
          <a:bodyPr lIns="0" tIns="0" rIns="0" bIns="0" rtlCol="0" anchor="t">
            <a:spAutoFit/>
          </a:bodyPr>
          <a:lstStyle/>
          <a:p>
            <a:pPr algn="ctr">
              <a:lnSpc>
                <a:spcPts val="7000"/>
              </a:lnSpc>
            </a:pPr>
            <a:r>
              <a:rPr lang="en-US" sz="5000" b="1">
                <a:solidFill>
                  <a:srgbClr val="0166C2"/>
                </a:solidFill>
                <a:latin typeface="Canva Sans Bold"/>
                <a:ea typeface="Canva Sans Bold"/>
                <a:cs typeface="Canva Sans Bold"/>
                <a:sym typeface="Canva Sans Bold"/>
              </a:rPr>
              <a:t>Max benefit transportation </a:t>
            </a:r>
          </a:p>
          <a:p>
            <a:pPr algn="ctr">
              <a:lnSpc>
                <a:spcPts val="7000"/>
              </a:lnSpc>
            </a:pPr>
            <a:r>
              <a:rPr lang="en-US" sz="5000" b="1">
                <a:solidFill>
                  <a:srgbClr val="0166C2"/>
                </a:solidFill>
                <a:latin typeface="Canva Sans Bold"/>
                <a:ea typeface="Canva Sans Bold"/>
                <a:cs typeface="Canva Sans Bold"/>
                <a:sym typeface="Canva Sans Bold"/>
              </a:rPr>
              <a:t>with lower upper bound cap constraint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322684" y="-1358756"/>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p:cNvSpPr txBox="1"/>
          <p:nvPr/>
        </p:nvSpPr>
        <p:spPr>
          <a:xfrm>
            <a:off x="3273224" y="3530474"/>
            <a:ext cx="11741552" cy="4308872"/>
          </a:xfrm>
          <a:prstGeom prst="rect">
            <a:avLst/>
          </a:prstGeom>
        </p:spPr>
        <p:txBody>
          <a:bodyPr lIns="0" tIns="0" rIns="0" bIns="0" rtlCol="0" anchor="t">
            <a:spAutoFit/>
          </a:bodyPr>
          <a:lstStyle/>
          <a:p>
            <a:pPr algn="l">
              <a:lnSpc>
                <a:spcPts val="4200"/>
              </a:lnSpc>
            </a:pPr>
            <a:r>
              <a:rPr lang="en-US" sz="3000">
                <a:solidFill>
                  <a:srgbClr val="0166C2"/>
                </a:solidFill>
                <a:latin typeface="Nourd"/>
                <a:ea typeface="Nourd"/>
                <a:cs typeface="Nourd"/>
                <a:sym typeface="Nourd"/>
              </a:rPr>
              <a:t>Định nghĩa lại bài toán một cách toán học và ngắn gọn nhất:</a:t>
            </a:r>
          </a:p>
          <a:p>
            <a:pPr marL="647700" lvl="1" indent="-323850" algn="l">
              <a:lnSpc>
                <a:spcPts val="4200"/>
              </a:lnSpc>
              <a:buFont typeface="Arial"/>
              <a:buChar char="•"/>
            </a:pPr>
            <a:r>
              <a:rPr lang="en-US" sz="3000">
                <a:solidFill>
                  <a:srgbClr val="0166C2"/>
                </a:solidFill>
                <a:latin typeface="Nourd"/>
                <a:ea typeface="Nourd"/>
                <a:cs typeface="Nourd"/>
                <a:sym typeface="Nourd"/>
              </a:rPr>
              <a:t>Đầu vào: </a:t>
            </a:r>
            <a:r>
              <a:rPr lang="en-US" sz="3000" smtClean="0">
                <a:solidFill>
                  <a:srgbClr val="0166C2"/>
                </a:solidFill>
                <a:latin typeface="Nourd"/>
                <a:ea typeface="Nourd"/>
                <a:cs typeface="Nourd"/>
                <a:sym typeface="Nourd"/>
              </a:rPr>
              <a:t>N </a:t>
            </a:r>
            <a:r>
              <a:rPr lang="en-US" sz="3000">
                <a:solidFill>
                  <a:srgbClr val="0166C2"/>
                </a:solidFill>
                <a:latin typeface="Nourd"/>
                <a:ea typeface="Nourd"/>
                <a:cs typeface="Nourd"/>
                <a:sym typeface="Nourd"/>
              </a:rPr>
              <a:t>đơn hàng </a:t>
            </a:r>
            <a:r>
              <a:rPr lang="en-US" sz="3000" smtClean="0">
                <a:solidFill>
                  <a:srgbClr val="0166C2"/>
                </a:solidFill>
                <a:latin typeface="Nourd"/>
                <a:ea typeface="Nourd"/>
                <a:cs typeface="Nourd"/>
                <a:sym typeface="Nourd"/>
              </a:rPr>
              <a:t>(mỗi đơn </a:t>
            </a:r>
            <a:r>
              <a:rPr lang="en-US" sz="3000" smtClean="0">
                <a:solidFill>
                  <a:srgbClr val="0166C2"/>
                </a:solidFill>
                <a:latin typeface="Nourd"/>
                <a:ea typeface="Nourd"/>
                <a:cs typeface="Nourd"/>
                <a:sym typeface="Nourd"/>
              </a:rPr>
              <a:t>có </a:t>
            </a:r>
            <a:r>
              <a:rPr lang="en-US" sz="3000">
                <a:solidFill>
                  <a:srgbClr val="0166C2"/>
                </a:solidFill>
                <a:latin typeface="Nourd"/>
                <a:ea typeface="Nourd"/>
                <a:cs typeface="Nourd"/>
                <a:sym typeface="Nourd"/>
              </a:rPr>
              <a:t>trọng lượng </a:t>
            </a:r>
            <a:r>
              <a:rPr lang="en-US" sz="3000" smtClean="0">
                <a:solidFill>
                  <a:srgbClr val="0166C2"/>
                </a:solidFill>
                <a:latin typeface="Nourd"/>
                <a:ea typeface="Nourd"/>
                <a:cs typeface="Nourd"/>
                <a:sym typeface="Nourd"/>
              </a:rPr>
              <a:t>w, </a:t>
            </a:r>
            <a:r>
              <a:rPr lang="en-US" sz="3000">
                <a:solidFill>
                  <a:srgbClr val="0166C2"/>
                </a:solidFill>
                <a:latin typeface="Nourd"/>
                <a:ea typeface="Nourd"/>
                <a:cs typeface="Nourd"/>
                <a:sym typeface="Nourd"/>
              </a:rPr>
              <a:t>giá trị </a:t>
            </a:r>
            <a:r>
              <a:rPr lang="en-US" sz="3000" smtClean="0">
                <a:solidFill>
                  <a:srgbClr val="0166C2"/>
                </a:solidFill>
                <a:latin typeface="Nourd"/>
                <a:ea typeface="Nourd"/>
                <a:cs typeface="Nourd"/>
                <a:sym typeface="Nourd"/>
              </a:rPr>
              <a:t>p) </a:t>
            </a:r>
            <a:r>
              <a:rPr lang="en-US" sz="3000">
                <a:solidFill>
                  <a:srgbClr val="0166C2"/>
                </a:solidFill>
                <a:latin typeface="Nourd"/>
                <a:ea typeface="Nourd"/>
                <a:cs typeface="Nourd"/>
                <a:sym typeface="Nourd"/>
              </a:rPr>
              <a:t>và </a:t>
            </a:r>
            <a:r>
              <a:rPr lang="en-US" sz="3000" smtClean="0">
                <a:solidFill>
                  <a:srgbClr val="0166C2"/>
                </a:solidFill>
                <a:latin typeface="Nourd"/>
                <a:ea typeface="Nourd"/>
                <a:cs typeface="Nourd"/>
                <a:sym typeface="Nourd"/>
              </a:rPr>
              <a:t>K </a:t>
            </a:r>
            <a:r>
              <a:rPr lang="en-US" sz="3000">
                <a:solidFill>
                  <a:srgbClr val="0166C2"/>
                </a:solidFill>
                <a:latin typeface="Nourd"/>
                <a:ea typeface="Nourd"/>
                <a:cs typeface="Nourd"/>
                <a:sym typeface="Nourd"/>
              </a:rPr>
              <a:t>xe tải (có sức chứa tối thiểu </a:t>
            </a:r>
            <a:r>
              <a:rPr lang="en-US" sz="3000" smtClean="0">
                <a:solidFill>
                  <a:srgbClr val="0166C2"/>
                </a:solidFill>
                <a:latin typeface="Nourd"/>
                <a:ea typeface="Nourd"/>
                <a:cs typeface="Nourd"/>
                <a:sym typeface="Nourd"/>
              </a:rPr>
              <a:t>LQ_k, </a:t>
            </a:r>
            <a:r>
              <a:rPr lang="en-US" sz="3000">
                <a:solidFill>
                  <a:srgbClr val="0166C2"/>
                </a:solidFill>
                <a:latin typeface="Nourd"/>
                <a:ea typeface="Nourd"/>
                <a:cs typeface="Nourd"/>
                <a:sym typeface="Nourd"/>
              </a:rPr>
              <a:t>tối đa </a:t>
            </a:r>
            <a:r>
              <a:rPr lang="en-US" sz="3000" smtClean="0">
                <a:solidFill>
                  <a:srgbClr val="0166C2"/>
                </a:solidFill>
                <a:latin typeface="Nourd"/>
                <a:ea typeface="Nourd"/>
                <a:cs typeface="Nourd"/>
                <a:sym typeface="Nourd"/>
              </a:rPr>
              <a:t>UQ_k, </a:t>
            </a:r>
            <a:r>
              <a:rPr lang="en-US" sz="3000">
                <a:solidFill>
                  <a:srgbClr val="0166C2"/>
                </a:solidFill>
                <a:latin typeface="Nourd"/>
                <a:ea typeface="Nourd"/>
                <a:cs typeface="Nourd"/>
                <a:sym typeface="Nourd"/>
              </a:rPr>
              <a:t>chi phí vận hành </a:t>
            </a:r>
            <a:r>
              <a:rPr lang="en-US" sz="3000" smtClean="0">
                <a:solidFill>
                  <a:srgbClr val="0166C2"/>
                </a:solidFill>
                <a:latin typeface="Nourd"/>
                <a:ea typeface="Nourd"/>
                <a:cs typeface="Nourd"/>
                <a:sym typeface="Nourd"/>
              </a:rPr>
              <a:t>c_k).</a:t>
            </a:r>
            <a:endParaRPr lang="en-US" sz="3000">
              <a:solidFill>
                <a:srgbClr val="0166C2"/>
              </a:solidFill>
              <a:latin typeface="Nourd"/>
              <a:ea typeface="Nourd"/>
              <a:cs typeface="Nourd"/>
              <a:sym typeface="Nourd"/>
            </a:endParaRPr>
          </a:p>
          <a:p>
            <a:pPr marL="647700" lvl="1" indent="-323850" algn="l">
              <a:lnSpc>
                <a:spcPts val="4200"/>
              </a:lnSpc>
              <a:buFont typeface="Arial"/>
              <a:buChar char="•"/>
            </a:pPr>
            <a:r>
              <a:rPr lang="en-US" sz="3000">
                <a:solidFill>
                  <a:srgbClr val="0166C2"/>
                </a:solidFill>
                <a:latin typeface="Nourd"/>
                <a:ea typeface="Nourd"/>
                <a:cs typeface="Nourd"/>
                <a:sym typeface="Nourd"/>
              </a:rPr>
              <a:t>Ràng buộc: Trọng lượng tổng các đơn hàng trên xe </a:t>
            </a:r>
            <a:r>
              <a:rPr lang="en-US" sz="3000" smtClean="0">
                <a:solidFill>
                  <a:srgbClr val="0166C2"/>
                </a:solidFill>
                <a:latin typeface="Nourd"/>
                <a:ea typeface="Nourd"/>
                <a:cs typeface="Nourd"/>
                <a:sym typeface="Nourd"/>
              </a:rPr>
              <a:t>k </a:t>
            </a:r>
            <a:r>
              <a:rPr lang="en-US" sz="3000">
                <a:solidFill>
                  <a:srgbClr val="0166C2"/>
                </a:solidFill>
                <a:latin typeface="Nourd"/>
                <a:ea typeface="Nourd"/>
                <a:cs typeface="Nourd"/>
                <a:sym typeface="Nourd"/>
              </a:rPr>
              <a:t>phải nằm trong đoạn </a:t>
            </a:r>
            <a:r>
              <a:rPr lang="en-US" sz="3000" smtClean="0">
                <a:solidFill>
                  <a:srgbClr val="0166C2"/>
                </a:solidFill>
                <a:latin typeface="Nourd"/>
                <a:ea typeface="Nourd"/>
                <a:cs typeface="Nourd"/>
                <a:sym typeface="Nourd"/>
              </a:rPr>
              <a:t>[</a:t>
            </a:r>
            <a:r>
              <a:rPr lang="en-US" sz="3000">
                <a:solidFill>
                  <a:srgbClr val="0166C2"/>
                </a:solidFill>
                <a:latin typeface="Nourd"/>
                <a:ea typeface="Nourd"/>
                <a:cs typeface="Nourd"/>
                <a:sym typeface="Nourd"/>
              </a:rPr>
              <a:t>LQ_k, UQ_k</a:t>
            </a:r>
            <a:r>
              <a:rPr lang="en-US" sz="3000" smtClean="0">
                <a:solidFill>
                  <a:srgbClr val="0166C2"/>
                </a:solidFill>
                <a:latin typeface="Nourd"/>
                <a:ea typeface="Nourd"/>
                <a:cs typeface="Nourd"/>
                <a:sym typeface="Nourd"/>
              </a:rPr>
              <a:t>]. </a:t>
            </a:r>
            <a:r>
              <a:rPr lang="en-US" sz="3000">
                <a:solidFill>
                  <a:srgbClr val="0166C2"/>
                </a:solidFill>
                <a:latin typeface="Nourd"/>
                <a:ea typeface="Nourd"/>
                <a:cs typeface="Nourd"/>
                <a:sym typeface="Nourd"/>
              </a:rPr>
              <a:t>Mỗi đơn hàng chỉ xếp lên tối đa 1 xe.</a:t>
            </a:r>
          </a:p>
          <a:p>
            <a:pPr marL="647700" lvl="1" indent="-323850" algn="l">
              <a:lnSpc>
                <a:spcPts val="4200"/>
              </a:lnSpc>
              <a:buFont typeface="Arial"/>
              <a:buChar char="•"/>
            </a:pPr>
            <a:r>
              <a:rPr lang="en-US" sz="3000">
                <a:solidFill>
                  <a:srgbClr val="0166C2"/>
                </a:solidFill>
                <a:latin typeface="Nourd"/>
                <a:ea typeface="Nourd"/>
                <a:cs typeface="Nourd"/>
                <a:sym typeface="Nourd"/>
              </a:rPr>
              <a:t>Mục tiêu tối ưu: Tối đa hóa hàm lợi nhuận Z = ∑pᵢ - ∑cₖ</a:t>
            </a:r>
          </a:p>
          <a:p>
            <a:pPr algn="l">
              <a:lnSpc>
                <a:spcPts val="4200"/>
              </a:lnSpc>
            </a:pPr>
            <a:endParaRPr lang="en-US" sz="3000">
              <a:solidFill>
                <a:srgbClr val="0166C2"/>
              </a:solidFill>
              <a:latin typeface="Nourd"/>
              <a:ea typeface="Nourd"/>
              <a:cs typeface="Nourd"/>
              <a:sym typeface="Nourd"/>
            </a:endParaRPr>
          </a:p>
        </p:txBody>
      </p:sp>
      <p:sp>
        <p:nvSpPr>
          <p:cNvPr id="6" name="Freeform 6"/>
          <p:cNvSpPr/>
          <p:nvPr/>
        </p:nvSpPr>
        <p:spPr>
          <a:xfrm>
            <a:off x="-5642607"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Freeform 8"/>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9" name="TextBox 9"/>
          <p:cNvSpPr txBox="1"/>
          <p:nvPr/>
        </p:nvSpPr>
        <p:spPr>
          <a:xfrm>
            <a:off x="3886200" y="1804987"/>
            <a:ext cx="9766920" cy="1677575"/>
          </a:xfrm>
          <a:prstGeom prst="rect">
            <a:avLst/>
          </a:prstGeom>
        </p:spPr>
        <p:txBody>
          <a:bodyPr wrap="square" lIns="0" tIns="0" rIns="0" bIns="0" rtlCol="0" anchor="t">
            <a:spAutoFit/>
          </a:bodyPr>
          <a:lstStyle/>
          <a:p>
            <a:pPr algn="ctr">
              <a:lnSpc>
                <a:spcPts val="13999"/>
              </a:lnSpc>
            </a:pPr>
            <a:r>
              <a:rPr lang="en-US" sz="9999" b="1">
                <a:solidFill>
                  <a:srgbClr val="0166C2"/>
                </a:solidFill>
                <a:latin typeface="Canva Sans Bold"/>
                <a:ea typeface="Canva Sans Bold"/>
                <a:cs typeface="Canva Sans Bold"/>
                <a:sym typeface="Canva Sans Bold"/>
              </a:rPr>
              <a:t>MÔ </a:t>
            </a:r>
            <a:r>
              <a:rPr lang="en-US" sz="9999" b="1" smtClean="0">
                <a:solidFill>
                  <a:srgbClr val="0166C2"/>
                </a:solidFill>
                <a:latin typeface="Canva Sans Bold"/>
                <a:ea typeface="Canva Sans Bold"/>
                <a:cs typeface="Canva Sans Bold"/>
                <a:sym typeface="Canva Sans Bold"/>
              </a:rPr>
              <a:t>HÌNH HÓA</a:t>
            </a:r>
            <a:endParaRPr lang="en-US" sz="9999" b="1">
              <a:solidFill>
                <a:srgbClr val="0166C2"/>
              </a:solidFill>
              <a:latin typeface="Canva Sans Bold"/>
              <a:ea typeface="Canva Sans Bold"/>
              <a:cs typeface="Canva Sans Bold"/>
              <a:sym typeface="Canva Sans Bo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TextBox 5"/>
          <p:cNvSpPr txBox="1"/>
          <p:nvPr/>
        </p:nvSpPr>
        <p:spPr>
          <a:xfrm>
            <a:off x="2873843" y="838200"/>
            <a:ext cx="12540313" cy="1708151"/>
          </a:xfrm>
          <a:prstGeom prst="rect">
            <a:avLst/>
          </a:prstGeom>
        </p:spPr>
        <p:txBody>
          <a:bodyPr lIns="0" tIns="0" rIns="0" bIns="0" rtlCol="0" anchor="t">
            <a:spAutoFit/>
          </a:bodyPr>
          <a:lstStyle/>
          <a:p>
            <a:pPr algn="ctr">
              <a:lnSpc>
                <a:spcPts val="13999"/>
              </a:lnSpc>
            </a:pPr>
            <a:r>
              <a:rPr lang="en-US" sz="9999" b="1">
                <a:solidFill>
                  <a:srgbClr val="0166C2"/>
                </a:solidFill>
                <a:latin typeface="JetBrains Mono Bold"/>
                <a:ea typeface="JetBrains Mono Bold"/>
                <a:cs typeface="JetBrains Mono Bold"/>
                <a:sym typeface="JetBrains Mono Bold"/>
              </a:rPr>
              <a:t>CHIẾN LƯỢC</a:t>
            </a:r>
          </a:p>
        </p:txBody>
      </p:sp>
      <p:sp>
        <p:nvSpPr>
          <p:cNvPr id="6" name="Freeform 6"/>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14767953" y="7084219"/>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Freeform 8"/>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9" name="TextBox 9"/>
          <p:cNvSpPr txBox="1"/>
          <p:nvPr/>
        </p:nvSpPr>
        <p:spPr>
          <a:xfrm>
            <a:off x="1629403" y="2876550"/>
            <a:ext cx="15029193" cy="5314950"/>
          </a:xfrm>
          <a:prstGeom prst="rect">
            <a:avLst/>
          </a:prstGeom>
        </p:spPr>
        <p:txBody>
          <a:bodyPr lIns="0" tIns="0" rIns="0" bIns="0" rtlCol="0" anchor="t">
            <a:spAutoFit/>
          </a:bodyPr>
          <a:lstStyle/>
          <a:p>
            <a:pPr marL="647700" lvl="1" indent="-323850" algn="l">
              <a:lnSpc>
                <a:spcPts val="4200"/>
              </a:lnSpc>
              <a:spcBef>
                <a:spcPct val="0"/>
              </a:spcBef>
              <a:buFont typeface="Arial"/>
              <a:buChar char="•"/>
            </a:pPr>
            <a:r>
              <a:rPr lang="en-US" sz="3000">
                <a:solidFill>
                  <a:srgbClr val="0166C2"/>
                </a:solidFill>
                <a:latin typeface="Nourd"/>
                <a:ea typeface="Nourd"/>
                <a:cs typeface="Nourd"/>
                <a:sym typeface="Nourd"/>
              </a:rPr>
              <a:t>Khai thác Time Limit: Đề bài cho thời gian chạy lên đến 5 phút. Thay vì một thuật toán đơn lẻ chạy một lần rồi dừng, chương trình tận dụng triệt để thời gian này (giới hạn ở 290 giây) để liên tục sinh ra các lời giải mới.</a:t>
            </a:r>
          </a:p>
          <a:p>
            <a:pPr marL="647700" lvl="1" indent="-323850" algn="l">
              <a:lnSpc>
                <a:spcPts val="4200"/>
              </a:lnSpc>
              <a:spcBef>
                <a:spcPct val="0"/>
              </a:spcBef>
              <a:buFont typeface="Arial"/>
              <a:buChar char="•"/>
            </a:pPr>
            <a:r>
              <a:rPr lang="en-US" sz="3000">
                <a:solidFill>
                  <a:srgbClr val="0166C2"/>
                </a:solidFill>
                <a:latin typeface="Nourd"/>
                <a:ea typeface="Nourd"/>
                <a:cs typeface="Nourd"/>
                <a:sym typeface="Nourd"/>
              </a:rPr>
              <a:t>Mô hình thiết kế: Sử dụng struct DATA để lưu trữ trạng thái tốt nhất. Cấu trúc nạp chồng toán tử + giúp việc so sánh và cập nhật cấu hình tối ưu diễn ra cực kỳ gọn gàng.</a:t>
            </a:r>
          </a:p>
          <a:p>
            <a:pPr marL="647700" lvl="1" indent="-323850" algn="l">
              <a:lnSpc>
                <a:spcPts val="4200"/>
              </a:lnSpc>
              <a:spcBef>
                <a:spcPct val="0"/>
              </a:spcBef>
              <a:buFont typeface="Arial"/>
              <a:buChar char="•"/>
            </a:pPr>
            <a:r>
              <a:rPr lang="en-US" sz="3000">
                <a:solidFill>
                  <a:srgbClr val="0166C2"/>
                </a:solidFill>
                <a:latin typeface="Nourd"/>
                <a:ea typeface="Nourd"/>
                <a:cs typeface="Nourd"/>
                <a:sym typeface="Nourd"/>
              </a:rPr>
              <a:t>Hướng tiếp cận: Kết hợp nhiều chiến lược Tham lam (Greedy) khác nhau để tạo nghiệm cơ sở tốt, sau đó dùng Quy hoạch động (Dynamic Programming) kết hợp ngẫu nhiên (Randomize) để thoát khỏi các điểm tối ưu cục bộ (Local Optima).</a:t>
            </a:r>
          </a:p>
          <a:p>
            <a:pPr algn="l">
              <a:lnSpc>
                <a:spcPts val="4200"/>
              </a:lnSpc>
              <a:spcBef>
                <a:spcPct val="0"/>
              </a:spcBef>
            </a:pPr>
            <a:endParaRPr lang="en-US" sz="3000">
              <a:solidFill>
                <a:srgbClr val="0166C2"/>
              </a:solidFill>
              <a:latin typeface="Nourd"/>
              <a:ea typeface="Nourd"/>
              <a:cs typeface="Nourd"/>
              <a:sym typeface="Nour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4150159" y="1643959"/>
            <a:ext cx="9987683" cy="1558610"/>
          </a:xfrm>
          <a:prstGeom prst="rect">
            <a:avLst/>
          </a:prstGeom>
        </p:spPr>
        <p:txBody>
          <a:bodyPr lIns="0" tIns="0" rIns="0" bIns="0" rtlCol="0" anchor="t">
            <a:spAutoFit/>
          </a:bodyPr>
          <a:lstStyle/>
          <a:p>
            <a:pPr algn="ctr">
              <a:lnSpc>
                <a:spcPts val="12780"/>
              </a:lnSpc>
            </a:pPr>
            <a:r>
              <a:rPr lang="en-US" sz="9129" b="1">
                <a:solidFill>
                  <a:srgbClr val="0166C2"/>
                </a:solidFill>
                <a:latin typeface="JetBrains Mono Bold"/>
                <a:ea typeface="JetBrains Mono Bold"/>
                <a:cs typeface="JetBrains Mono Bold"/>
                <a:sym typeface="JetBrains Mono Bold"/>
              </a:rPr>
              <a:t>ALGORITHM</a:t>
            </a:r>
          </a:p>
        </p:txBody>
      </p:sp>
      <p:sp>
        <p:nvSpPr>
          <p:cNvPr id="5" name="TextBox 5"/>
          <p:cNvSpPr txBox="1"/>
          <p:nvPr/>
        </p:nvSpPr>
        <p:spPr>
          <a:xfrm>
            <a:off x="1950174" y="4478621"/>
            <a:ext cx="15309126" cy="4203700"/>
          </a:xfrm>
          <a:prstGeom prst="rect">
            <a:avLst/>
          </a:prstGeom>
        </p:spPr>
        <p:txBody>
          <a:bodyPr lIns="0" tIns="0" rIns="0" bIns="0" rtlCol="0" anchor="t">
            <a:spAutoFit/>
          </a:bodyPr>
          <a:lstStyle/>
          <a:p>
            <a:pPr algn="l">
              <a:lnSpc>
                <a:spcPts val="5599"/>
              </a:lnSpc>
            </a:pPr>
            <a:r>
              <a:rPr lang="en-US" sz="3999">
                <a:solidFill>
                  <a:srgbClr val="0166C2"/>
                </a:solidFill>
                <a:latin typeface="Nourd"/>
                <a:ea typeface="Nourd"/>
                <a:cs typeface="Nourd"/>
                <a:sym typeface="Nourd"/>
              </a:rPr>
              <a:t> Ý tưởng cốt lõi nằm trong 4 hàm algo trong namespace Greedy:</a:t>
            </a:r>
          </a:p>
          <a:p>
            <a:pPr marL="863599" lvl="1" indent="-431800" algn="l">
              <a:lnSpc>
                <a:spcPts val="5599"/>
              </a:lnSpc>
              <a:buFont typeface="Arial"/>
              <a:buChar char="•"/>
            </a:pPr>
            <a:r>
              <a:rPr lang="en-US" sz="3999">
                <a:solidFill>
                  <a:srgbClr val="0166C2"/>
                </a:solidFill>
                <a:latin typeface="Nourd"/>
                <a:ea typeface="Nourd"/>
                <a:cs typeface="Nourd"/>
                <a:sym typeface="Nourd"/>
              </a:rPr>
              <a:t>algo01: Tham lam theo Tỷ suất lợi nhuận</a:t>
            </a:r>
          </a:p>
          <a:p>
            <a:pPr marL="863599" lvl="1" indent="-431800" algn="l">
              <a:lnSpc>
                <a:spcPts val="5599"/>
              </a:lnSpc>
              <a:buFont typeface="Arial"/>
              <a:buChar char="•"/>
            </a:pPr>
            <a:r>
              <a:rPr lang="en-US" sz="3999">
                <a:solidFill>
                  <a:srgbClr val="0166C2"/>
                </a:solidFill>
                <a:latin typeface="Nourd"/>
                <a:ea typeface="Nourd"/>
                <a:cs typeface="Nourd"/>
                <a:sym typeface="Nourd"/>
              </a:rPr>
              <a:t>algo02: Tham lam theo Lấp đầy xe</a:t>
            </a:r>
          </a:p>
          <a:p>
            <a:pPr marL="863599" lvl="1" indent="-431800" algn="l">
              <a:lnSpc>
                <a:spcPts val="5599"/>
              </a:lnSpc>
              <a:buFont typeface="Arial"/>
              <a:buChar char="•"/>
            </a:pPr>
            <a:r>
              <a:rPr lang="en-US" sz="3999">
                <a:solidFill>
                  <a:srgbClr val="0166C2"/>
                </a:solidFill>
                <a:latin typeface="Nourd"/>
                <a:ea typeface="Nourd"/>
                <a:cs typeface="Nourd"/>
                <a:sym typeface="Nourd"/>
              </a:rPr>
              <a:t>algo03: Quy hoạch động Knapsack</a:t>
            </a:r>
          </a:p>
          <a:p>
            <a:pPr marL="863599" lvl="1" indent="-431800" algn="l">
              <a:lnSpc>
                <a:spcPts val="5599"/>
              </a:lnSpc>
              <a:buFont typeface="Arial"/>
              <a:buChar char="•"/>
            </a:pPr>
            <a:r>
              <a:rPr lang="en-US" sz="3999">
                <a:solidFill>
                  <a:srgbClr val="0166C2"/>
                </a:solidFill>
                <a:latin typeface="Nourd"/>
                <a:ea typeface="Nourd"/>
                <a:cs typeface="Nourd"/>
                <a:sym typeface="Nourd"/>
              </a:rPr>
              <a:t>algo04: Randomized Knapsack</a:t>
            </a:r>
          </a:p>
          <a:p>
            <a:pPr algn="l">
              <a:lnSpc>
                <a:spcPts val="5599"/>
              </a:lnSpc>
            </a:pPr>
            <a:endParaRPr lang="en-US" sz="3999">
              <a:solidFill>
                <a:srgbClr val="0166C2"/>
              </a:solidFill>
              <a:latin typeface="Nourd"/>
              <a:ea typeface="Nourd"/>
              <a:cs typeface="Nourd"/>
              <a:sym typeface="Nourd"/>
            </a:endParaRPr>
          </a:p>
        </p:txBody>
      </p:sp>
      <p:sp>
        <p:nvSpPr>
          <p:cNvPr id="6" name="Freeform 6"/>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4150159" y="1643959"/>
            <a:ext cx="9987683" cy="1558610"/>
          </a:xfrm>
          <a:prstGeom prst="rect">
            <a:avLst/>
          </a:prstGeom>
        </p:spPr>
        <p:txBody>
          <a:bodyPr lIns="0" tIns="0" rIns="0" bIns="0" rtlCol="0" anchor="t">
            <a:spAutoFit/>
          </a:bodyPr>
          <a:lstStyle/>
          <a:p>
            <a:pPr algn="ctr">
              <a:lnSpc>
                <a:spcPts val="12780"/>
              </a:lnSpc>
            </a:pPr>
            <a:r>
              <a:rPr lang="en-US" sz="9129" b="1">
                <a:solidFill>
                  <a:srgbClr val="0166C2"/>
                </a:solidFill>
                <a:latin typeface="JetBrains Mono Bold"/>
                <a:ea typeface="JetBrains Mono Bold"/>
                <a:cs typeface="JetBrains Mono Bold"/>
                <a:sym typeface="JetBrains Mono Bold"/>
              </a:rPr>
              <a:t>ALGORITHM</a:t>
            </a:r>
          </a:p>
        </p:txBody>
      </p:sp>
      <p:sp>
        <p:nvSpPr>
          <p:cNvPr id="5" name="TextBox 5"/>
          <p:cNvSpPr txBox="1"/>
          <p:nvPr/>
        </p:nvSpPr>
        <p:spPr>
          <a:xfrm>
            <a:off x="1133475" y="3553437"/>
            <a:ext cx="16021050" cy="5314950"/>
          </a:xfrm>
          <a:prstGeom prst="rect">
            <a:avLst/>
          </a:prstGeom>
        </p:spPr>
        <p:txBody>
          <a:bodyPr lIns="0" tIns="0" rIns="0" bIns="0" rtlCol="0" anchor="t">
            <a:spAutoFit/>
          </a:bodyPr>
          <a:lstStyle/>
          <a:p>
            <a:pPr algn="l">
              <a:lnSpc>
                <a:spcPts val="4200"/>
              </a:lnSpc>
            </a:pPr>
            <a:r>
              <a:rPr lang="en-US" sz="3000" b="1">
                <a:solidFill>
                  <a:srgbClr val="0166C2"/>
                </a:solidFill>
                <a:latin typeface="Nourd Bold"/>
                <a:ea typeface="Nourd Bold"/>
                <a:cs typeface="Nourd Bold"/>
                <a:sym typeface="Nourd Bold"/>
              </a:rPr>
              <a:t>1. Hàm algo01()</a:t>
            </a:r>
            <a:r>
              <a:rPr lang="en-US" sz="3000">
                <a:solidFill>
                  <a:srgbClr val="0166C2"/>
                </a:solidFill>
                <a:latin typeface="Nourd"/>
                <a:ea typeface="Nourd"/>
                <a:cs typeface="Nourd"/>
                <a:sym typeface="Nourd"/>
              </a:rPr>
              <a:t>: Tham lam theo Tỷ suất lợi nhuận.</a:t>
            </a:r>
          </a:p>
          <a:p>
            <a:pPr algn="l">
              <a:lnSpc>
                <a:spcPts val="4200"/>
              </a:lnSpc>
            </a:pPr>
            <a:r>
              <a:rPr lang="en-US" sz="3000">
                <a:solidFill>
                  <a:srgbClr val="0166C2"/>
                </a:solidFill>
                <a:latin typeface="Nourd"/>
                <a:ea typeface="Nourd"/>
                <a:cs typeface="Nourd"/>
                <a:sym typeface="Nourd"/>
              </a:rPr>
              <a:t>Ý tưởng cốt lõi: Cố gắng xếp những món hàng hời nhất (lãi cao, nhẹ) vào những chiếc xe chi phí thấp nhất. Làm đầy từng xe một.</a:t>
            </a:r>
          </a:p>
          <a:p>
            <a:pPr marL="647700" lvl="1" indent="-323850" algn="l">
              <a:lnSpc>
                <a:spcPts val="4200"/>
              </a:lnSpc>
              <a:buFont typeface="Arial"/>
              <a:buChar char="•"/>
            </a:pPr>
            <a:r>
              <a:rPr lang="en-US" sz="3000">
                <a:solidFill>
                  <a:srgbClr val="0166C2"/>
                </a:solidFill>
                <a:latin typeface="Nourd"/>
                <a:ea typeface="Nourd"/>
                <a:cs typeface="Nourd"/>
                <a:sym typeface="Nourd"/>
              </a:rPr>
              <a:t>Sắp xếp xe (Truck Sorting): Ưu tiên chọn các xe có chi phí thấp nhất. </a:t>
            </a:r>
          </a:p>
          <a:p>
            <a:pPr marL="647700" lvl="1" indent="-323850" algn="l">
              <a:lnSpc>
                <a:spcPts val="4200"/>
              </a:lnSpc>
              <a:buFont typeface="Arial"/>
              <a:buChar char="•"/>
            </a:pPr>
            <a:r>
              <a:rPr lang="en-US" sz="3000">
                <a:solidFill>
                  <a:srgbClr val="0166C2"/>
                </a:solidFill>
                <a:latin typeface="Nourd"/>
                <a:ea typeface="Nourd"/>
                <a:cs typeface="Nourd"/>
                <a:sym typeface="Nourd"/>
              </a:rPr>
              <a:t>Sắp xếp hàng (Item Sorting): Ưu tiên theo price/weight và code tránh so sánh số thực.</a:t>
            </a:r>
          </a:p>
          <a:p>
            <a:pPr marL="647700" lvl="1" indent="-323850" algn="l">
              <a:lnSpc>
                <a:spcPts val="4200"/>
              </a:lnSpc>
              <a:buFont typeface="Arial"/>
              <a:buChar char="•"/>
            </a:pPr>
            <a:r>
              <a:rPr lang="en-US" sz="3000">
                <a:solidFill>
                  <a:srgbClr val="0166C2"/>
                </a:solidFill>
                <a:latin typeface="Nourd"/>
                <a:ea typeface="Nourd"/>
                <a:cs typeface="Nourd"/>
                <a:sym typeface="Nourd"/>
              </a:rPr>
              <a:t>Cơ chế chọn: Quét qua từng xe, nhét lần lượt các món hàng tốt nhất vào miễn là không vượt quá UQ. Khi không thể nhét thêm, kiểm tra xem tổng trọng lượng có vượt qua cận dưới LQ và tổng lợi nhuận có bù đắp được chi phí  không. Nếu có, chốt đơn cho xe đó.</a:t>
            </a:r>
          </a:p>
          <a:p>
            <a:pPr algn="l">
              <a:lnSpc>
                <a:spcPts val="4200"/>
              </a:lnSpc>
            </a:pPr>
            <a:endParaRPr lang="en-US" sz="3000">
              <a:solidFill>
                <a:srgbClr val="0166C2"/>
              </a:solidFill>
              <a:latin typeface="Nourd"/>
              <a:ea typeface="Nourd"/>
              <a:cs typeface="Nourd"/>
              <a:sym typeface="Nourd"/>
            </a:endParaRPr>
          </a:p>
          <a:p>
            <a:pPr algn="l">
              <a:lnSpc>
                <a:spcPts val="4200"/>
              </a:lnSpc>
            </a:pPr>
            <a:endParaRPr lang="en-US" sz="3000">
              <a:solidFill>
                <a:srgbClr val="0166C2"/>
              </a:solidFill>
              <a:latin typeface="Nourd"/>
              <a:ea typeface="Nourd"/>
              <a:cs typeface="Nourd"/>
              <a:sym typeface="Nourd"/>
            </a:endParaRPr>
          </a:p>
        </p:txBody>
      </p:sp>
      <p:sp>
        <p:nvSpPr>
          <p:cNvPr id="6" name="Freeform 6"/>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526895" y="-2226650"/>
            <a:ext cx="11772900" cy="6143313"/>
          </a:xfrm>
          <a:custGeom>
            <a:avLst/>
            <a:gdLst/>
            <a:ahLst/>
            <a:cxnLst/>
            <a:rect l="l" t="t" r="r" b="b"/>
            <a:pathLst>
              <a:path w="11772900" h="6143313">
                <a:moveTo>
                  <a:pt x="0" y="0"/>
                </a:moveTo>
                <a:lnTo>
                  <a:pt x="11772900" y="0"/>
                </a:lnTo>
                <a:lnTo>
                  <a:pt x="11772900" y="6143313"/>
                </a:lnTo>
                <a:lnTo>
                  <a:pt x="0" y="614331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4150159" y="857250"/>
            <a:ext cx="9987683" cy="1558610"/>
          </a:xfrm>
          <a:prstGeom prst="rect">
            <a:avLst/>
          </a:prstGeom>
        </p:spPr>
        <p:txBody>
          <a:bodyPr lIns="0" tIns="0" rIns="0" bIns="0" rtlCol="0" anchor="t">
            <a:spAutoFit/>
          </a:bodyPr>
          <a:lstStyle/>
          <a:p>
            <a:pPr algn="ctr">
              <a:lnSpc>
                <a:spcPts val="12780"/>
              </a:lnSpc>
            </a:pPr>
            <a:r>
              <a:rPr lang="en-US" sz="9129" b="1">
                <a:solidFill>
                  <a:srgbClr val="0166C2"/>
                </a:solidFill>
                <a:latin typeface="JetBrains Mono Bold"/>
                <a:ea typeface="JetBrains Mono Bold"/>
                <a:cs typeface="JetBrains Mono Bold"/>
                <a:sym typeface="JetBrains Mono Bold"/>
              </a:rPr>
              <a:t>ALGORITHM</a:t>
            </a:r>
          </a:p>
        </p:txBody>
      </p:sp>
      <p:sp>
        <p:nvSpPr>
          <p:cNvPr id="5" name="Freeform 5"/>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604698" y="2451839"/>
            <a:ext cx="17354130" cy="9048750"/>
          </a:xfrm>
          <a:prstGeom prst="rect">
            <a:avLst/>
          </a:prstGeom>
        </p:spPr>
        <p:txBody>
          <a:bodyPr lIns="0" tIns="0" rIns="0" bIns="0" rtlCol="0" anchor="t">
            <a:spAutoFit/>
          </a:bodyPr>
          <a:lstStyle/>
          <a:p>
            <a:pPr algn="l">
              <a:lnSpc>
                <a:spcPts val="4200"/>
              </a:lnSpc>
            </a:pPr>
            <a:r>
              <a:rPr lang="en-US" sz="3000" b="1">
                <a:solidFill>
                  <a:srgbClr val="0166C2"/>
                </a:solidFill>
                <a:latin typeface="Nourd Bold"/>
                <a:ea typeface="Nourd Bold"/>
                <a:cs typeface="Nourd Bold"/>
                <a:sym typeface="Nourd Bold"/>
              </a:rPr>
              <a:t>2. Hàm algo02()</a:t>
            </a:r>
            <a:r>
              <a:rPr lang="en-US" sz="3000">
                <a:solidFill>
                  <a:srgbClr val="0166C2"/>
                </a:solidFill>
                <a:latin typeface="Nourd"/>
                <a:ea typeface="Nourd"/>
                <a:cs typeface="Nourd"/>
                <a:sym typeface="Nourd"/>
              </a:rPr>
              <a:t>: Tham lam theo Lấp đầy xe.</a:t>
            </a:r>
          </a:p>
          <a:p>
            <a:pPr algn="l">
              <a:lnSpc>
                <a:spcPts val="4200"/>
              </a:lnSpc>
            </a:pPr>
            <a:r>
              <a:rPr lang="en-US" sz="3000">
                <a:solidFill>
                  <a:srgbClr val="0166C2"/>
                </a:solidFill>
                <a:latin typeface="Nourd"/>
                <a:ea typeface="Nourd"/>
                <a:cs typeface="Nourd"/>
                <a:sym typeface="Nourd"/>
              </a:rPr>
              <a:t>Ý tưởng cốt lõi: Thay vì ưu tiên tỷ suất, ta ưu tiên những món hàng có giá trị tuyệt đối cao nhất. Điểm đặc biệt là thuật toán ưu tiên nhét hàng vào các xe đang chưa đạt mức LQ.</a:t>
            </a:r>
          </a:p>
          <a:p>
            <a:pPr marL="647700" lvl="1" indent="-323850" algn="l">
              <a:lnSpc>
                <a:spcPts val="4200"/>
              </a:lnSpc>
              <a:buFont typeface="Arial"/>
              <a:buChar char="•"/>
            </a:pPr>
            <a:r>
              <a:rPr lang="en-US" sz="3000">
                <a:solidFill>
                  <a:srgbClr val="0166C2"/>
                </a:solidFill>
                <a:latin typeface="Nourd"/>
                <a:ea typeface="Nourd"/>
                <a:cs typeface="Nourd"/>
                <a:sym typeface="Nourd"/>
              </a:rPr>
              <a:t>Sắp xếp hàng: Ưu tiên giá trị giá cao hơn. Nếu bằng nhau, chọn hàng nhẹ hơn.</a:t>
            </a:r>
          </a:p>
          <a:p>
            <a:pPr marL="647700" lvl="1" indent="-323850" algn="l">
              <a:lnSpc>
                <a:spcPts val="4200"/>
              </a:lnSpc>
              <a:buFont typeface="Arial"/>
              <a:buChar char="•"/>
            </a:pPr>
            <a:r>
              <a:rPr lang="en-US" sz="3000">
                <a:solidFill>
                  <a:srgbClr val="0166C2"/>
                </a:solidFill>
                <a:latin typeface="Nourd"/>
                <a:ea typeface="Nourd"/>
                <a:cs typeface="Nourd"/>
                <a:sym typeface="Nourd"/>
              </a:rPr>
              <a:t>Logic chọn xe thông minh (best_car_idx): Thay vì quét xe rồi chọn hàng, hàm này quét hàng rồi tìm xe phù hợp nhất.</a:t>
            </a:r>
          </a:p>
          <a:p>
            <a:pPr marL="1295400" lvl="2" indent="-431800" algn="l">
              <a:lnSpc>
                <a:spcPts val="4200"/>
              </a:lnSpc>
              <a:buFont typeface="Arial"/>
              <a:buChar char="⚬"/>
            </a:pPr>
            <a:r>
              <a:rPr lang="en-US" sz="3000">
                <a:solidFill>
                  <a:srgbClr val="0166C2"/>
                </a:solidFill>
                <a:latin typeface="Nourd"/>
                <a:ea typeface="Nourd"/>
                <a:cs typeface="Nourd"/>
                <a:sym typeface="Nourd"/>
              </a:rPr>
              <a:t>Biến i_needs_LQ: Kiểm tra xem xe thứ I có đang bị thiếu trọng lượng để đạt mức LQ hay không.</a:t>
            </a:r>
          </a:p>
          <a:p>
            <a:pPr marL="1295400" lvl="2" indent="-431800" algn="l">
              <a:lnSpc>
                <a:spcPts val="4200"/>
              </a:lnSpc>
              <a:buFont typeface="Arial"/>
              <a:buChar char="⚬"/>
            </a:pPr>
            <a:r>
              <a:rPr lang="en-US" sz="3000">
                <a:solidFill>
                  <a:srgbClr val="0166C2"/>
                </a:solidFill>
                <a:latin typeface="Nourd"/>
                <a:ea typeface="Nourd"/>
                <a:cs typeface="Nourd"/>
                <a:sym typeface="Nourd"/>
              </a:rPr>
              <a:t>Nếu tìm được một xe đang thiếu tải, thuật toán sẽ ưu tiên đẩy hàng vào đó thay vì nhét vào xe đã đủ điều kiện.</a:t>
            </a:r>
          </a:p>
          <a:p>
            <a:pPr marL="1295400" lvl="2" indent="-431800" algn="l">
              <a:lnSpc>
                <a:spcPts val="4200"/>
              </a:lnSpc>
              <a:buFont typeface="Arial"/>
              <a:buChar char="⚬"/>
            </a:pPr>
            <a:r>
              <a:rPr lang="en-US" sz="3000">
                <a:solidFill>
                  <a:srgbClr val="0166C2"/>
                </a:solidFill>
                <a:latin typeface="Nourd"/>
                <a:ea typeface="Nourd"/>
                <a:cs typeface="Nourd"/>
                <a:sym typeface="Nourd"/>
              </a:rPr>
              <a:t>Nếu hai xe cùng trạng thái (cùng thiếu hoặc cùng đủ), xe nào còn nhiều chỗ trống hơn sẽ được ưu tiên.</a:t>
            </a:r>
          </a:p>
          <a:p>
            <a:pPr marL="647700" lvl="1" indent="-323850" algn="l">
              <a:lnSpc>
                <a:spcPts val="4200"/>
              </a:lnSpc>
              <a:buFont typeface="Arial"/>
              <a:buChar char="•"/>
            </a:pPr>
            <a:r>
              <a:rPr lang="en-US" sz="3000">
                <a:solidFill>
                  <a:srgbClr val="0166C2"/>
                </a:solidFill>
                <a:latin typeface="Nourd"/>
                <a:ea typeface="Nourd"/>
                <a:cs typeface="Nourd"/>
                <a:sym typeface="Nourd"/>
              </a:rPr>
              <a:t>Cơ chế chọn: Sau khi phân bổ xong toàn bộ hàng hóa, duyệt lại danh sách xe một lần nữa. Xe nào lợi nhuận âm sẽ bị loại.</a:t>
            </a:r>
          </a:p>
          <a:p>
            <a:pPr algn="l">
              <a:lnSpc>
                <a:spcPts val="4200"/>
              </a:lnSpc>
            </a:pPr>
            <a:endParaRPr lang="en-US" sz="3000">
              <a:solidFill>
                <a:srgbClr val="0166C2"/>
              </a:solidFill>
              <a:latin typeface="Nourd"/>
              <a:ea typeface="Nourd"/>
              <a:cs typeface="Nourd"/>
              <a:sym typeface="Nourd"/>
            </a:endParaRPr>
          </a:p>
          <a:p>
            <a:pPr algn="l">
              <a:lnSpc>
                <a:spcPts val="4200"/>
              </a:lnSpc>
            </a:pPr>
            <a:endParaRPr lang="en-US" sz="3000">
              <a:solidFill>
                <a:srgbClr val="0166C2"/>
              </a:solidFill>
              <a:latin typeface="Nourd"/>
              <a:ea typeface="Nourd"/>
              <a:cs typeface="Nourd"/>
              <a:sym typeface="Nourd"/>
            </a:endParaRPr>
          </a:p>
          <a:p>
            <a:pPr algn="l">
              <a:lnSpc>
                <a:spcPts val="4200"/>
              </a:lnSpc>
            </a:pPr>
            <a:endParaRPr lang="en-US" sz="3000">
              <a:solidFill>
                <a:srgbClr val="0166C2"/>
              </a:solidFill>
              <a:latin typeface="Nourd"/>
              <a:ea typeface="Nourd"/>
              <a:cs typeface="Nourd"/>
              <a:sym typeface="Nourd"/>
            </a:endParaRPr>
          </a:p>
        </p:txBody>
      </p:sp>
      <p:sp>
        <p:nvSpPr>
          <p:cNvPr id="7" name="Freeform 7"/>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4150159" y="1643959"/>
            <a:ext cx="9987683" cy="1558610"/>
          </a:xfrm>
          <a:prstGeom prst="rect">
            <a:avLst/>
          </a:prstGeom>
        </p:spPr>
        <p:txBody>
          <a:bodyPr lIns="0" tIns="0" rIns="0" bIns="0" rtlCol="0" anchor="t">
            <a:spAutoFit/>
          </a:bodyPr>
          <a:lstStyle/>
          <a:p>
            <a:pPr algn="ctr">
              <a:lnSpc>
                <a:spcPts val="12780"/>
              </a:lnSpc>
            </a:pPr>
            <a:r>
              <a:rPr lang="en-US" sz="9129" b="1">
                <a:solidFill>
                  <a:srgbClr val="0166C2"/>
                </a:solidFill>
                <a:latin typeface="JetBrains Mono Bold"/>
                <a:ea typeface="JetBrains Mono Bold"/>
                <a:cs typeface="JetBrains Mono Bold"/>
                <a:sym typeface="JetBrains Mono Bold"/>
              </a:rPr>
              <a:t>ALGORITHM</a:t>
            </a:r>
          </a:p>
        </p:txBody>
      </p:sp>
      <p:sp>
        <p:nvSpPr>
          <p:cNvPr id="5" name="TextBox 5"/>
          <p:cNvSpPr txBox="1"/>
          <p:nvPr/>
        </p:nvSpPr>
        <p:spPr>
          <a:xfrm>
            <a:off x="1133475" y="3553437"/>
            <a:ext cx="16021050" cy="5848350"/>
          </a:xfrm>
          <a:prstGeom prst="rect">
            <a:avLst/>
          </a:prstGeom>
        </p:spPr>
        <p:txBody>
          <a:bodyPr lIns="0" tIns="0" rIns="0" bIns="0" rtlCol="0" anchor="t">
            <a:spAutoFit/>
          </a:bodyPr>
          <a:lstStyle/>
          <a:p>
            <a:pPr algn="l">
              <a:lnSpc>
                <a:spcPts val="4200"/>
              </a:lnSpc>
            </a:pPr>
            <a:r>
              <a:rPr lang="en-US" sz="3000" b="1">
                <a:solidFill>
                  <a:srgbClr val="0166C2"/>
                </a:solidFill>
                <a:latin typeface="Nourd Bold"/>
                <a:ea typeface="Nourd Bold"/>
                <a:cs typeface="Nourd Bold"/>
                <a:sym typeface="Nourd Bold"/>
              </a:rPr>
              <a:t>3. Hàm algo03()</a:t>
            </a:r>
            <a:r>
              <a:rPr lang="en-US" sz="3000">
                <a:solidFill>
                  <a:srgbClr val="0166C2"/>
                </a:solidFill>
                <a:latin typeface="Nourd"/>
                <a:ea typeface="Nourd"/>
                <a:cs typeface="Nourd"/>
                <a:sym typeface="Nourd"/>
              </a:rPr>
              <a:t>: Quy hoạch động Cái túi kết hợp tham lam.</a:t>
            </a:r>
          </a:p>
          <a:p>
            <a:pPr marL="647700" lvl="1" indent="-323850" algn="l">
              <a:lnSpc>
                <a:spcPts val="4200"/>
              </a:lnSpc>
              <a:buFont typeface="Arial"/>
              <a:buChar char="•"/>
            </a:pPr>
            <a:r>
              <a:rPr lang="en-US" sz="3000">
                <a:solidFill>
                  <a:srgbClr val="0166C2"/>
                </a:solidFill>
                <a:latin typeface="Nourd"/>
                <a:ea typeface="Nourd"/>
                <a:cs typeface="Nourd"/>
                <a:sym typeface="Nourd"/>
              </a:rPr>
              <a:t>Ý tưởng: Coi mỗi xe tải là một bài toán Cái túi độc lập. Tìm tổ hợp hàng hóa vừa vặn nhất để tối đa hóa lợi nhuận cho từng chiếc xe.</a:t>
            </a:r>
          </a:p>
          <a:p>
            <a:pPr marL="647700" lvl="1" indent="-323850" algn="l">
              <a:lnSpc>
                <a:spcPts val="4200"/>
              </a:lnSpc>
              <a:buFont typeface="Arial"/>
              <a:buChar char="•"/>
            </a:pPr>
            <a:r>
              <a:rPr lang="en-US" sz="3000">
                <a:solidFill>
                  <a:srgbClr val="0166C2"/>
                </a:solidFill>
                <a:latin typeface="Nourd"/>
                <a:ea typeface="Nourd"/>
                <a:cs typeface="Nourd"/>
                <a:sym typeface="Nourd"/>
              </a:rPr>
              <a:t>Trước hết ta sẽ duyệt xe theo chi phí càng rẻ càng tốt. Với mỗi xe ta sẽ tìm tổ hợp hàng hóa vừa vặn nhất để tối đa hóa lợi nhuận cho từng chiếc xe. </a:t>
            </a:r>
          </a:p>
          <a:p>
            <a:pPr marL="647700" lvl="1" indent="-323850" algn="l">
              <a:lnSpc>
                <a:spcPts val="4200"/>
              </a:lnSpc>
              <a:buFont typeface="Arial"/>
              <a:buChar char="•"/>
            </a:pPr>
            <a:r>
              <a:rPr lang="en-US" sz="3000">
                <a:solidFill>
                  <a:srgbClr val="0166C2"/>
                </a:solidFill>
                <a:latin typeface="Nourd"/>
                <a:ea typeface="Nourd"/>
                <a:cs typeface="Nourd"/>
                <a:sym typeface="Nourd"/>
              </a:rPr>
              <a:t>Điểm đặc biệt: Không chỉ dùng Quy hoạch động để tính lợi nhuận, thuật toán sử dụng truy vết ngược. Nó giúp chương trình nhặt ra chính xác từng ID đơn hàng đã xếp lên xe và loại bỏ đi khi xét đến xe kế tiếp.</a:t>
            </a:r>
          </a:p>
          <a:p>
            <a:pPr algn="l">
              <a:lnSpc>
                <a:spcPts val="4200"/>
              </a:lnSpc>
            </a:pPr>
            <a:endParaRPr lang="en-US" sz="3000">
              <a:solidFill>
                <a:srgbClr val="0166C2"/>
              </a:solidFill>
              <a:latin typeface="Nourd"/>
              <a:ea typeface="Nourd"/>
              <a:cs typeface="Nourd"/>
              <a:sym typeface="Nourd"/>
            </a:endParaRPr>
          </a:p>
          <a:p>
            <a:pPr algn="l">
              <a:lnSpc>
                <a:spcPts val="4200"/>
              </a:lnSpc>
            </a:pPr>
            <a:endParaRPr lang="en-US" sz="3000">
              <a:solidFill>
                <a:srgbClr val="0166C2"/>
              </a:solidFill>
              <a:latin typeface="Nourd"/>
              <a:ea typeface="Nourd"/>
              <a:cs typeface="Nourd"/>
              <a:sym typeface="Nourd"/>
            </a:endParaRPr>
          </a:p>
          <a:p>
            <a:pPr algn="l">
              <a:lnSpc>
                <a:spcPts val="4200"/>
              </a:lnSpc>
            </a:pPr>
            <a:endParaRPr lang="en-US" sz="3000">
              <a:solidFill>
                <a:srgbClr val="0166C2"/>
              </a:solidFill>
              <a:latin typeface="Nourd"/>
              <a:ea typeface="Nourd"/>
              <a:cs typeface="Nourd"/>
              <a:sym typeface="Nourd"/>
            </a:endParaRPr>
          </a:p>
        </p:txBody>
      </p:sp>
      <p:sp>
        <p:nvSpPr>
          <p:cNvPr id="6" name="Freeform 6"/>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4150159" y="1643959"/>
            <a:ext cx="9987683" cy="1558610"/>
          </a:xfrm>
          <a:prstGeom prst="rect">
            <a:avLst/>
          </a:prstGeom>
        </p:spPr>
        <p:txBody>
          <a:bodyPr lIns="0" tIns="0" rIns="0" bIns="0" rtlCol="0" anchor="t">
            <a:spAutoFit/>
          </a:bodyPr>
          <a:lstStyle/>
          <a:p>
            <a:pPr algn="ctr">
              <a:lnSpc>
                <a:spcPts val="12780"/>
              </a:lnSpc>
            </a:pPr>
            <a:r>
              <a:rPr lang="en-US" sz="9129" b="1">
                <a:solidFill>
                  <a:srgbClr val="0166C2"/>
                </a:solidFill>
                <a:latin typeface="JetBrains Mono Bold"/>
                <a:ea typeface="JetBrains Mono Bold"/>
                <a:cs typeface="JetBrains Mono Bold"/>
                <a:sym typeface="JetBrains Mono Bold"/>
              </a:rPr>
              <a:t>ALGORITHM</a:t>
            </a:r>
          </a:p>
        </p:txBody>
      </p:sp>
      <p:sp>
        <p:nvSpPr>
          <p:cNvPr id="5" name="TextBox 5"/>
          <p:cNvSpPr txBox="1"/>
          <p:nvPr/>
        </p:nvSpPr>
        <p:spPr>
          <a:xfrm>
            <a:off x="1133475" y="3553437"/>
            <a:ext cx="16021050" cy="4248150"/>
          </a:xfrm>
          <a:prstGeom prst="rect">
            <a:avLst/>
          </a:prstGeom>
        </p:spPr>
        <p:txBody>
          <a:bodyPr lIns="0" tIns="0" rIns="0" bIns="0" rtlCol="0" anchor="t">
            <a:spAutoFit/>
          </a:bodyPr>
          <a:lstStyle/>
          <a:p>
            <a:pPr algn="l">
              <a:lnSpc>
                <a:spcPts val="4200"/>
              </a:lnSpc>
            </a:pPr>
            <a:r>
              <a:rPr lang="en-US" sz="3000" b="1">
                <a:solidFill>
                  <a:srgbClr val="0166C2"/>
                </a:solidFill>
                <a:latin typeface="Nourd Bold"/>
                <a:ea typeface="Nourd Bold"/>
                <a:cs typeface="Nourd Bold"/>
                <a:sym typeface="Nourd Bold"/>
              </a:rPr>
              <a:t>4. Hàm algo04(): </a:t>
            </a:r>
            <a:r>
              <a:rPr lang="en-US" sz="3000">
                <a:solidFill>
                  <a:srgbClr val="0166C2"/>
                </a:solidFill>
                <a:latin typeface="Nourd"/>
                <a:ea typeface="Nourd"/>
                <a:cs typeface="Nourd"/>
                <a:sym typeface="Nourd"/>
              </a:rPr>
              <a:t>Quy hoạch động Ngẫu nhiên </a:t>
            </a:r>
          </a:p>
          <a:p>
            <a:pPr marL="647700" lvl="1" indent="-323850" algn="l">
              <a:lnSpc>
                <a:spcPts val="4200"/>
              </a:lnSpc>
              <a:buFont typeface="Arial"/>
              <a:buChar char="•"/>
            </a:pPr>
            <a:r>
              <a:rPr lang="en-US" sz="3000">
                <a:solidFill>
                  <a:srgbClr val="0166C2"/>
                </a:solidFill>
                <a:latin typeface="Nourd"/>
                <a:ea typeface="Nourd"/>
                <a:cs typeface="Nourd"/>
                <a:sym typeface="Nourd"/>
              </a:rPr>
              <a:t>Ý tưởng: Vẫn là lõi DP của algo03, nhưng dùng hàm shuffle để xáo trộn ngẫu nhiên thứ tự xét xe.</a:t>
            </a:r>
          </a:p>
          <a:p>
            <a:pPr marL="647700" lvl="1" indent="-323850" algn="l">
              <a:lnSpc>
                <a:spcPts val="4200"/>
              </a:lnSpc>
              <a:buFont typeface="Arial"/>
              <a:buChar char="•"/>
            </a:pPr>
            <a:r>
              <a:rPr lang="en-US" sz="3000">
                <a:solidFill>
                  <a:srgbClr val="0166C2"/>
                </a:solidFill>
                <a:latin typeface="Nourd"/>
                <a:ea typeface="Nourd"/>
                <a:cs typeface="Nourd"/>
                <a:sym typeface="Nourd"/>
              </a:rPr>
              <a:t>Điểm đặc biệt: Hàm này được ném vào vòng lặp while chạy liên tục cho đến sát giới hạn thời gian (5 phút). Thuật toán liên tục thử nghiệm các trật tự mới chứ không gò bó như của algo03.</a:t>
            </a:r>
          </a:p>
          <a:p>
            <a:pPr algn="l">
              <a:lnSpc>
                <a:spcPts val="4200"/>
              </a:lnSpc>
            </a:pPr>
            <a:endParaRPr lang="en-US" sz="3000">
              <a:solidFill>
                <a:srgbClr val="0166C2"/>
              </a:solidFill>
              <a:latin typeface="Nourd"/>
              <a:ea typeface="Nourd"/>
              <a:cs typeface="Nourd"/>
              <a:sym typeface="Nourd"/>
            </a:endParaRPr>
          </a:p>
          <a:p>
            <a:pPr algn="l">
              <a:lnSpc>
                <a:spcPts val="4200"/>
              </a:lnSpc>
            </a:pPr>
            <a:endParaRPr lang="en-US" sz="3000">
              <a:solidFill>
                <a:srgbClr val="0166C2"/>
              </a:solidFill>
              <a:latin typeface="Nourd"/>
              <a:ea typeface="Nourd"/>
              <a:cs typeface="Nourd"/>
              <a:sym typeface="Nourd"/>
            </a:endParaRPr>
          </a:p>
        </p:txBody>
      </p:sp>
      <p:sp>
        <p:nvSpPr>
          <p:cNvPr id="6" name="Freeform 6"/>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 name="Freeform 2"/>
          <p:cNvSpPr/>
          <p:nvPr/>
        </p:nvSpPr>
        <p:spPr>
          <a:xfrm>
            <a:off x="9144000" y="-2201124"/>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201900" y="68381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flipH="1" flipV="1">
            <a:off x="-819150" y="-160581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5514975" y="6838101"/>
            <a:ext cx="11772900" cy="6143313"/>
          </a:xfrm>
          <a:custGeom>
            <a:avLst/>
            <a:gdLst/>
            <a:ahLst/>
            <a:cxnLst/>
            <a:rect l="l" t="t" r="r" b="b"/>
            <a:pathLst>
              <a:path w="11772900" h="6143313">
                <a:moveTo>
                  <a:pt x="0" y="0"/>
                </a:moveTo>
                <a:lnTo>
                  <a:pt x="11772900" y="0"/>
                </a:lnTo>
                <a:lnTo>
                  <a:pt x="11772900" y="6143314"/>
                </a:lnTo>
                <a:lnTo>
                  <a:pt x="0" y="61433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15201900" y="7236961"/>
            <a:ext cx="2174081" cy="2174081"/>
          </a:xfrm>
          <a:custGeom>
            <a:avLst/>
            <a:gdLst/>
            <a:ahLst/>
            <a:cxnLst/>
            <a:rect l="l" t="t" r="r" b="b"/>
            <a:pathLst>
              <a:path w="2174081" h="2174081">
                <a:moveTo>
                  <a:pt x="0" y="0"/>
                </a:moveTo>
                <a:lnTo>
                  <a:pt x="2174081" y="0"/>
                </a:lnTo>
                <a:lnTo>
                  <a:pt x="2174081" y="2174081"/>
                </a:lnTo>
                <a:lnTo>
                  <a:pt x="0" y="217408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TextBox 7"/>
          <p:cNvSpPr txBox="1"/>
          <p:nvPr/>
        </p:nvSpPr>
        <p:spPr>
          <a:xfrm>
            <a:off x="2914790" y="4059268"/>
            <a:ext cx="12458420" cy="1949389"/>
          </a:xfrm>
          <a:prstGeom prst="rect">
            <a:avLst/>
          </a:prstGeom>
        </p:spPr>
        <p:txBody>
          <a:bodyPr lIns="0" tIns="0" rIns="0" bIns="0" rtlCol="0" anchor="t">
            <a:spAutoFit/>
          </a:bodyPr>
          <a:lstStyle/>
          <a:p>
            <a:pPr algn="ctr">
              <a:lnSpc>
                <a:spcPts val="15942"/>
              </a:lnSpc>
            </a:pPr>
            <a:r>
              <a:rPr lang="en-US" sz="11387" b="1">
                <a:solidFill>
                  <a:srgbClr val="0166C2"/>
                </a:solidFill>
                <a:latin typeface="JetBrains Mono Bold"/>
                <a:ea typeface="JetBrains Mono Bold"/>
                <a:cs typeface="JetBrains Mono Bold"/>
                <a:sym typeface="JetBrains Mono Bold"/>
              </a:rPr>
              <a:t>THANK YOU</a:t>
            </a:r>
          </a:p>
        </p:txBody>
      </p:sp>
      <p:sp>
        <p:nvSpPr>
          <p:cNvPr id="8" name="Freeform 8"/>
          <p:cNvSpPr/>
          <p:nvPr/>
        </p:nvSpPr>
        <p:spPr>
          <a:xfrm>
            <a:off x="604698" y="650011"/>
            <a:ext cx="2690952" cy="1345476"/>
          </a:xfrm>
          <a:custGeom>
            <a:avLst/>
            <a:gdLst/>
            <a:ahLst/>
            <a:cxnLst/>
            <a:rect l="l" t="t" r="r" b="b"/>
            <a:pathLst>
              <a:path w="2690952" h="1345476">
                <a:moveTo>
                  <a:pt x="0" y="0"/>
                </a:moveTo>
                <a:lnTo>
                  <a:pt x="2690952" y="0"/>
                </a:lnTo>
                <a:lnTo>
                  <a:pt x="2690952" y="1345476"/>
                </a:lnTo>
                <a:lnTo>
                  <a:pt x="0" y="1345476"/>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896</Words>
  <Application>Microsoft Office PowerPoint</Application>
  <PresentationFormat>Custom</PresentationFormat>
  <Paragraphs>46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Nourd</vt:lpstr>
      <vt:lpstr>Nourd Bold</vt:lpstr>
      <vt:lpstr>JetBrains Mono 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Professional Geometric Project Presentation</dc:title>
  <cp:lastModifiedBy>Tong cuc Thue</cp:lastModifiedBy>
  <cp:revision>2</cp:revision>
  <dcterms:created xsi:type="dcterms:W3CDTF">2006-08-16T00:00:00Z</dcterms:created>
  <dcterms:modified xsi:type="dcterms:W3CDTF">2026-06-30T07:36:52Z</dcterms:modified>
  <dc:identifier>DAHN9jzHtds</dc:identifier>
</cp:coreProperties>
</file>